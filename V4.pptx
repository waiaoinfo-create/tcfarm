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1097280"/>
            <a:ext cx="8534095" cy="27432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6705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01E"/>
                </a:solidFill>
                <a:latin typeface="微軟正黑體"/>
              </a:defRPr>
            </a:pPr>
            <a:r>
              <a:t>✦ 1979 – 2026 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軟正黑體"/>
              </a:defRPr>
            </a:pPr>
            <a:r>
              <a:t>頭城農場 &amp; 藏酒酒莊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5176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8D5A2"/>
                </a:solidFill>
                <a:latin typeface="微軟正黑體"/>
              </a:defRPr>
            </a:pPr>
            <a:r>
              <a:t>永續農業 · 生態旅遊 · 在地釀造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微軟正黑體"/>
              </a:defRPr>
            </a:pPr>
            <a:r>
              <a:t>從雪山山脈到太平洋，從120公頃的有機農場到獲得國際金牌的生態酒莊</a:t>
            </a:r>
            <a:br/>
            <a:r>
              <a:t>用近半世紀的堅持，守護這片土地的純淨與美好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32407" y="4206240"/>
            <a:ext cx="1645920" cy="914400"/>
          </a:xfrm>
          <a:prstGeom prst="round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2407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D5A2"/>
                </a:solidFill>
                <a:latin typeface="微軟正黑體"/>
              </a:defRPr>
            </a:pPr>
            <a:r>
              <a:t>1979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2407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軟正黑體"/>
              </a:defRPr>
            </a:pPr>
            <a:r>
              <a:t>創立 · 逾47年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2647" y="4206240"/>
            <a:ext cx="1645920" cy="914400"/>
          </a:xfrm>
          <a:prstGeom prst="round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2647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D5A2"/>
                </a:solidFill>
                <a:latin typeface="微軟正黑體"/>
              </a:defRPr>
            </a:pPr>
            <a: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647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軟正黑體"/>
              </a:defRPr>
            </a:pPr>
            <a:r>
              <a:t>公頃 · 生態農場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72887" y="4206240"/>
            <a:ext cx="1645920" cy="914400"/>
          </a:xfrm>
          <a:prstGeom prst="round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2887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D5A2"/>
                </a:solidFill>
                <a:latin typeface="微軟正黑體"/>
              </a:defRPr>
            </a:pPr>
            <a: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2887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軟正黑體"/>
              </a:defRPr>
            </a:pPr>
            <a:r>
              <a:t>項永續認證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93127" y="4206240"/>
            <a:ext cx="1645920" cy="914400"/>
          </a:xfrm>
          <a:prstGeom prst="round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93127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01E"/>
                </a:solidFill>
                <a:latin typeface="微軟正黑體"/>
              </a:defRPr>
            </a:pPr>
            <a:r>
              <a:t>Grand 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127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軟正黑體"/>
              </a:defRPr>
            </a:pPr>
            <a:r>
              <a:t>2026國際金牌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3367" y="4206240"/>
            <a:ext cx="1645920" cy="914400"/>
          </a:xfrm>
          <a:prstGeom prst="roundRect">
            <a:avLst/>
          </a:prstGeom>
          <a:solidFill>
            <a:srgbClr val="153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3367" y="4251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D5A2"/>
                </a:solidFill>
                <a:latin typeface="微軟正黑體"/>
              </a:defRPr>
            </a:pPr>
            <a:r>
              <a:t>10.18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13367" y="4663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99999"/>
                </a:solidFill>
                <a:latin typeface="微軟正黑體"/>
              </a:defRPr>
            </a:pPr>
            <a:r>
              <a:t>kgCO2e/人次遊程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軟正黑體"/>
              </a:defRPr>
            </a:pPr>
            <a:r>
              <a:t>下一頁 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分享人簡介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微軟正黑體"/>
              </a:defRPr>
            </a:pPr>
            <a:r>
              <a:t>（請插入分享人介紹圖片）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頭城農場概覽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Toucheng Leisure Farm — 台灣東北角的永續農業典範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691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1979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創立逾47年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19" y="1280160"/>
            <a:ext cx="1691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39" y="13258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軟正黑體"/>
              </a:defRPr>
            </a:pPr>
            <a:r>
              <a:t>120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17190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公頃生態農場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38" y="1280160"/>
            <a:ext cx="1691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8" y="13258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58" y="17190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條天然溪流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57" y="1280160"/>
            <a:ext cx="1691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7" y="13258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7" y="17190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項國內外認證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6" y="1280160"/>
            <a:ext cx="1691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0996" y="13258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軟正黑體"/>
              </a:defRPr>
            </a:pPr>
            <a:r>
              <a:t>10.18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996" y="17190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kgCO2e/人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9795" y="1280160"/>
            <a:ext cx="169164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15" y="13258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20,000+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15" y="171907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株原生樹種復育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28600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2860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24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地理位置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044952"/>
            <a:ext cx="3383280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宜蘭縣頭城鎮更新路125-1號。倚山面海，位於雪山山脈與太平洋交界，距台北約2小時車程。屬東北角海岸國家風景區範圍，為國土生態綠網行動節點。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228600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22860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🏛️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2724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經營團隊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044952"/>
            <a:ext cx="3383280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創辦人：卓陳明女士（教育家出身，人稱卓媽媽）</a:t>
            </a:r>
            <a:br/>
            <a:r>
              <a:t>董事長：卓志宏（宜蘭縣觀光協會理事長）</a:t>
            </a:r>
            <a:br/>
            <a:r>
              <a:t>集團：同集團另有藏酒酒莊、頭城休閒旅館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228600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22860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724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核心理念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044952"/>
            <a:ext cx="3383280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三生一體：生態·生產·生活</a:t>
            </a:r>
            <a:br/>
            <a:r>
              <a:t>五大主軸：環境教育、戶外學習、健康養身、樂活慢遊、生命教育</a:t>
            </a:r>
            <a:br/>
            <a:r>
              <a:t>願景：成為國內外休閒農業標竿農場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C2E"/>
                </a:solidFill>
                <a:latin typeface="微軟正黑體"/>
              </a:defRPr>
            </a:pPr>
            <a:r>
              <a:t>📞 03-9772220  |  ✉ tcfarminfo@gmail.com  |  🌐 www.tcfarm.com.tw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歷程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從傳統農田到國際永續標竿 — 五階段演化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645920" cy="822960"/>
          </a:xfrm>
          <a:prstGeom prst="round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1979-1990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生產型農場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1755648"/>
            <a:ext cx="1828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77440" y="1371600"/>
            <a:ext cx="8869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1371600"/>
            <a:ext cx="36576" cy="82296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14630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傳統農業生產為主，種植果樹、蔬菜。創辦人卓陳明女士帶著孩子來到宜蘭落地生根，開創農場事業。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77440"/>
            <a:ext cx="1645920" cy="822960"/>
          </a:xfrm>
          <a:prstGeom prst="round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1990-2000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休閒農場轉型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8840" y="2761488"/>
            <a:ext cx="1828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377440" y="2377440"/>
            <a:ext cx="8869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77440" y="2377440"/>
            <a:ext cx="36576" cy="82296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246888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順應台灣休閒農業浪潮，開放觀光提供農村生活體驗。赤腳插秧、餵牛吃草，成為北台灣校外教學經典回憶。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1645920" cy="822960"/>
          </a:xfrm>
          <a:prstGeom prst="round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474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2000-2015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深度體驗旅遊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767328"/>
            <a:ext cx="1828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377440" y="3383280"/>
            <a:ext cx="8869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77440" y="3383280"/>
            <a:ext cx="36576" cy="82296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60320" y="347472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導入DIY手作、生態導覽、住宿餐飲。建立環境教育課程體系，從觀光休閒升級到深度生態旅遊。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89120"/>
            <a:ext cx="1645920" cy="822960"/>
          </a:xfrm>
          <a:prstGeom prst="round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4805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2015-2019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006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接軌國際永續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773168"/>
            <a:ext cx="1828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77440" y="4389120"/>
            <a:ext cx="8869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77440" y="4389120"/>
            <a:ext cx="36576" cy="82296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8056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2018年通過GSTC全球永續旅遊認證，為東北角國家風景區首個國際永續認證旅館。導入系統化永續管理架構。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394960"/>
            <a:ext cx="1645920" cy="822960"/>
          </a:xfrm>
          <a:prstGeom prst="round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486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微軟正黑體"/>
              </a:defRPr>
            </a:pPr>
            <a:r>
              <a:t>2020-2026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806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ESG與森川里海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48840" y="5779008"/>
            <a:ext cx="1828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377440" y="5394960"/>
            <a:ext cx="886968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377440" y="5394960"/>
            <a:ext cx="36576" cy="822960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60320" y="54864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推動森川里海整合策略，從場域延伸到山海環境。2026年取得DNV碳足跡國際查證，創全國首例。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地理環境與自然資源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雪山山脈與太平洋交會，得天獨厚的生態寶庫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公頃桂竹林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軟正黑體"/>
              </a:defRPr>
            </a:pPr>
            <a:r>
              <a:t>500+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棵金桔金棗樹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公頃有機菜園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軟正黑體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種螢火蟲復育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86000"/>
            <a:ext cx="54864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286000"/>
            <a:ext cx="548640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59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🏔️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地形地貌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44952"/>
            <a:ext cx="530352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雪山山脈山腳下，海拔50-300公尺。保留原始次生林：50公頃桂竹林、相思樹林、楓香林及果園。屬東北角海岸國家風景區。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286000"/>
            <a:ext cx="54864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286000"/>
            <a:ext cx="548640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3591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249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水資源系統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044952"/>
            <a:ext cx="530352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三條溪流貫穿園區：平溪、桃子林溪、梗枋溪（列入國土生態綠網重點保育）。水源來自雪山山脈天然湧泉，水質純淨無污染。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89120"/>
            <a:ext cx="54864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389120"/>
            <a:ext cx="548640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462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28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植物生態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48072"/>
            <a:ext cx="530352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有機菜園2公頃，500多棵金桔金棗樹。水稻田、火龍果園、柑橘園四季生產。2026年啟動瀕危物種葦草蘭復育。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389120"/>
            <a:ext cx="548640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389120"/>
            <a:ext cx="548640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46227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28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動物生態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148072"/>
            <a:ext cx="530352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紅外線自動相機監測：山羌、山豬、獼猴、食蟹獴、穿山甲、台灣藍鵲。四種螢火蟲復育，大白斑蝶、翡翠樹蛙等。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7項認證體系與國際肯定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台灣取得最多國際永續認證的休閒農場之一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1691640" cy="457200"/>
          </a:xfrm>
          <a:prstGeom prst="round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669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軟正黑體"/>
              </a:defRPr>
            </a:pPr>
            <a:r>
              <a:t>🌍 GSTC Certified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280160"/>
            <a:ext cx="1691640" cy="457200"/>
          </a:xfrm>
          <a:prstGeom prst="round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5669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軟正黑體"/>
              </a:defRPr>
            </a:pPr>
            <a:r>
              <a:t>🏛️ UNWTO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280160"/>
            <a:ext cx="1691640" cy="457200"/>
          </a:xfrm>
          <a:prstGeom prst="roundRect">
            <a:avLst/>
          </a:prstGeom>
          <a:solidFill>
            <a:srgbClr val="6B2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5669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軟正黑體"/>
              </a:defRPr>
            </a:pPr>
            <a:r>
              <a:t>🌿 Rainforest Alliance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280160"/>
            <a:ext cx="1691640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89320" y="5669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軟正黑體"/>
              </a:defRPr>
            </a:pPr>
            <a:r>
              <a:t>✅ GTS Green Travel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280160"/>
            <a:ext cx="1691640" cy="457200"/>
          </a:xfrm>
          <a:prstGeom prst="round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5669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軟正黑體"/>
              </a:defRPr>
            </a:pPr>
            <a:r>
              <a:t>📋 DNV Verified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280160"/>
            <a:ext cx="1691640" cy="457200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46920" y="566928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微軟正黑體"/>
              </a:defRPr>
            </a:pPr>
            <a:r>
              <a:t>🏆 AEN Innovation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011680"/>
            <a:ext cx="54864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011680"/>
            <a:ext cx="54864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0848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GSTC 全球永續旅遊認證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770632"/>
            <a:ext cx="53035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由UN Foundation、UNWTO、Rainforest Alliance共同發起。2018年通過Control Union稽核，2019年正式獲頒。東北角國家風景區首個國際永續旅館認證。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011680"/>
            <a:ext cx="54864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011680"/>
            <a:ext cx="54864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0848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♻️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450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環保標章旅館＋綠色餐廳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770632"/>
            <a:ext cx="53035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2021年取得環境部（原環保署）標章。落實廢棄物回收再生、續住重複使用寢具毛巾、熱泵鍋爐節能設備、太陽能熱水系統。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97680"/>
            <a:ext cx="54864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297680"/>
            <a:ext cx="54864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3708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736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GTS 綠色旅行標章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056632"/>
            <a:ext cx="53035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荷蘭創立之國際標章，專為中小型旅宿設計，準則對接GSTC。2023年取得。2026年將遵循歐盟強化消費者綠色轉型指令進行升級。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297680"/>
            <a:ext cx="54864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297680"/>
            <a:ext cx="548640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3708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7365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環境教育設施場所認證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056632"/>
            <a:ext cx="530352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2023年三月取得。向大地學知識，與萬物交朋友。課程對象含：幼稚園至大學/成人等。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🌏 地球志工 Earth Keeper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全國首例遊程碳足跡取得DNV第三方國際查證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8229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" cy="82296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1732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2E"/>
                </a:solidFill>
                <a:latin typeface="微軟正黑體"/>
              </a:defRPr>
            </a:pPr>
            <a:r>
              <a:t>四大核心亮點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微軟正黑體"/>
              </a:defRPr>
            </a:pPr>
            <a:r>
              <a:t>① 數據實證實踐永續影響  ② 從單點示範到場域擴散  ③ 宜蘭環教場域培力升級  ④ 鏈結企業綠色採購ESG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329184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36576" cy="329184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C2E"/>
                </a:solidFill>
                <a:latin typeface="微軟正黑體"/>
              </a:defRPr>
            </a:pPr>
            <a:r>
              <a:t>📢 2026/4/28 正式發布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222"/>
                </a:solidFill>
                <a:latin typeface="微軟正黑體"/>
              </a:defRPr>
            </a:pPr>
            <a:r>
              <a:t>• 查證單位：DNV立恩威國際驗證</a:t>
            </a:r>
          </a:p>
          <a:p>
            <a:pPr>
              <a:defRPr sz="1200">
                <a:solidFill>
                  <a:srgbClr val="222222"/>
                </a:solidFill>
                <a:latin typeface="微軟正黑體"/>
              </a:defRPr>
            </a:pPr>
            <a:r>
              <a:t>• 每人次碳排放：僅 10.1815 kgCO2e</a:t>
            </a:r>
          </a:p>
          <a:p>
            <a:pPr>
              <a:defRPr sz="1200">
                <a:solidFill>
                  <a:srgbClr val="222222"/>
                </a:solidFill>
                <a:latin typeface="微軟正黑體"/>
              </a:defRPr>
            </a:pPr>
            <a:r>
              <a:t>• 遠低於傳統旅遊模式</a:t>
            </a:r>
          </a:p>
          <a:p>
            <a:pPr>
              <a:defRPr sz="1200">
                <a:solidFill>
                  <a:srgbClr val="222222"/>
                </a:solidFill>
                <a:latin typeface="微軟正黑體"/>
              </a:defRPr>
            </a:pPr>
            <a:r>
              <a:t>• 內容含低碳飲食、廢棄菇包生態復育、林業循環廢材盆栽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9260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22222"/>
                </a:solidFill>
                <a:latin typeface="微軟正黑體"/>
              </a:defRPr>
            </a:pPr>
            <a:r>
              <a:t>• 代理縣長林茂盛親自主持發布</a:t>
            </a:r>
          </a:p>
          <a:p>
            <a:pPr>
              <a:defRPr sz="1200">
                <a:solidFill>
                  <a:srgbClr val="222222"/>
                </a:solidFill>
                <a:latin typeface="微軟正黑體"/>
              </a:defRPr>
            </a:pPr>
            <a:r>
              <a:t>• DNV總經理謝振瑋、頭城農場卓志宏董事長共同見證</a:t>
            </a:r>
          </a:p>
          <a:p>
            <a:pPr>
              <a:defRPr sz="1200">
                <a:solidFill>
                  <a:srgbClr val="222222"/>
                </a:solidFill>
                <a:latin typeface="微軟正黑體"/>
              </a:defRPr>
            </a:pPr>
            <a:r>
              <a:t>• 宜蘭環教學習城市淨零轉型正式啟動</a:t>
            </a:r>
          </a:p>
          <a:p>
            <a:pPr>
              <a:defRPr sz="1200">
                <a:solidFill>
                  <a:srgbClr val="222222"/>
                </a:solidFill>
                <a:latin typeface="微軟正黑體"/>
              </a:defRPr>
            </a:pPr>
            <a:r>
              <a:t>• 5年培力40個場域、15個完成碳盤查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永續發展與ESG實踐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環境 Environmental × 社會 Social × 治理 Governance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🌲 環境面 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383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與林業署宜蘭分署合作，5年種植20,000+株原生樹種</a:t>
            </a:r>
            <a:br/>
            <a:r>
              <a:t>• 桂竹復育16,000+株</a:t>
            </a:r>
            <a:br/>
            <a:r>
              <a:t>• 2025年起日月光投控支持造林</a:t>
            </a:r>
            <a:br/>
            <a:r>
              <a:t>• 螢火蟲復育：廢棄菇包→介質→棲地→旅遊循環</a:t>
            </a:r>
            <a:br/>
            <a:r>
              <a:t>• 2026啟動葦草蘭瀕危物種復育</a:t>
            </a:r>
            <a:br/>
            <a:r>
              <a:t>• Eco Box循環箱海廢治理、再生板材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👥 社會面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057400"/>
            <a:ext cx="3383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通過認證環境教育設施場所，全年提供課程</a:t>
            </a:r>
            <a:br/>
            <a:r>
              <a:t>• 三種特色生態餐桌：鳥類、蜜蜂、山豬，獲AEN大獎</a:t>
            </a:r>
            <a:br/>
            <a:r>
              <a:t>• 社區參與：梗枋學童植樹、桂竹筍祭假日市集</a:t>
            </a:r>
            <a:br/>
            <a:r>
              <a:t>• 蔬菜供應鄰近小學營養午餐</a:t>
            </a:r>
            <a:br/>
            <a:r>
              <a:t>• 2021-2023年50團以上國內外參訪</a:t>
            </a:r>
            <a:br/>
            <a:r>
              <a:t>• 5場以上歐美亞8國駐台使節交流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🏛️ 治理面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33832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2026年DNV碳足跡國際查證（全國首例）</a:t>
            </a:r>
            <a:br/>
            <a:r>
              <a:t>• Earth Keeper遊程每人次僅10.18kgCO2e</a:t>
            </a:r>
            <a:br/>
            <a:r>
              <a:t>• 規劃導入林相更新固碳量抵銷</a:t>
            </a:r>
            <a:br/>
            <a:r>
              <a:t>• SDGs對應：SDG4/12/13/15</a:t>
            </a:r>
            <a:br/>
            <a:r>
              <a:t>• GSTC亞太會議參與</a:t>
            </a:r>
            <a:br/>
            <a:r>
              <a:t>• 綠色採購與企業ESG供應鏈對接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森川里海核心策略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從農場出發，連結山海，串聯企業與社區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26974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森林 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251460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山林復育與棲地連結。原生樹種種植、除伐撫育、碳匯行動。紅外線監測山羌、穿山甲、食蟹獴。目標成為國土生態綠網行動節點。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26974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6974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444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🏞️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18105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溪流 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130552"/>
            <a:ext cx="251460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水域生態守護。梗枋溪列國土生態綠網重點保育。定期水質檢測、生物監測。溪畔環境教育：溪流靜心疊石、花草曼陀羅。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371600"/>
            <a:ext cx="26974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371600"/>
            <a:ext cx="26974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444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8105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海洋 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130552"/>
            <a:ext cx="251460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海廢治理與漁業支持。Eco Box循環箱取代保麗龍，海廢熱壓成再生板材。深度旅遊：漁獲拍賣、Eco Box體驗。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1371600"/>
            <a:ext cx="269748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1371600"/>
            <a:ext cx="269748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4447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81051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里山 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130552"/>
            <a:ext cx="251460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社區共好與在地產業。梗枋社區學童植樹、桂竹筍祭市集。綠色廚房連結友善生產者與消費者，帶動地方經濟與就業。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69280"/>
            <a:ext cx="11277295" cy="6400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36576" cy="64008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7150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2E"/>
                </a:solidFill>
                <a:latin typeface="微軟正黑體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594360" y="598932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微軟正黑體"/>
              </a:defRPr>
            </a:pPr>
            <a:r>
              <a:t>「頭城農場不再單純只是一處旅遊景點，而是以森川里海為核心，推動森林復育、漁港行動、餐桌轉譯與環境教育。」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🌱 瀕危物種復育 — 葦草蘭（鳥仔花）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2026年4月正式啟動，企業、林業署與農場三方合作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葦草蘭（Arundina graminifolia）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512064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台灣早期平原及淺山常見蘭花，俗稱「鳥仔花」</a:t>
            </a:r>
            <a:br/>
            <a:r>
              <a:t>• 為生態系中關鍵蜜源植物</a:t>
            </a:r>
            <a:br/>
            <a:r>
              <a:t>• 因人為開墾與除草劑濫用，野外幾乎消失</a:t>
            </a:r>
            <a:br/>
            <a:r>
              <a:t>• 僅新北貢寮、雙溪和苗栗大湖有穩定數量</a:t>
            </a:r>
            <a:br/>
            <a:r>
              <a:t>• 2026年日月光環保永續基金會支持復育</a:t>
            </a:r>
            <a:br/>
            <a:r>
              <a:t>• 由林業署宜蘭分署提供具東北角原生基因種苗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530352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10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復育行動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30552"/>
            <a:ext cx="512064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日月光集團繼2025年造林後，2026年深化合作</a:t>
            </a:r>
            <a:br/>
            <a:r>
              <a:t>• 企業基金會團隊親自參與栽種</a:t>
            </a:r>
            <a:br/>
            <a:r>
              <a:t>• 在水稻田旁栽種，重建淺山生態系</a:t>
            </a:r>
            <a:br/>
            <a:r>
              <a:t>• 在地梗枋國小師生走入林場，親手植樹</a:t>
            </a:r>
            <a:br/>
            <a:r>
              <a:t>• 學童體悟「森林和大海是連在一起的」</a:t>
            </a:r>
            <a:br/>
            <a:r>
              <a:t>• 從教育扎根培養下一代環境公民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669280"/>
            <a:ext cx="11277295" cy="7315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669280"/>
            <a:ext cx="36576" cy="73152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7150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2E"/>
                </a:solidFill>
                <a:latin typeface="微軟正黑體"/>
              </a:defRPr>
            </a:pPr>
            <a:r>
              <a:t>意義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微軟正黑體"/>
              </a:defRPr>
            </a:pPr>
            <a:r>
              <a:t>從森林復育到單一物種保育，頭城農場正逐步成為承接環境經驗的關鍵載體，為台灣休閒農業的永續轉型提出新路徑。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體驗活動與套裝行程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從半日遊到二日遊，從賞螢到品酒，從親子到企業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夏日賞螢季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每年4/15-5/15限定。賞螢生態講座。四種螢火蟲：擬紋螢、紅胸黑翅螢、黃緣螢、山窗螢。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DIY手作體驗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葉拓T恤、金桔醋、金棗蜜餞DIY、草本手作DIY。將農場自然元素化為專屬紀念品。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環境教育課程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水稻文化體驗（插秧、收割、碾米）、種菜樂趣多、生態探索。通過認證之正式課程。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住宿一泊三食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頭城休閒旅館35間客房。一泊三食五體驗：住宿＋早餐＋晚餐＋DIY＋導覽。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高空繩索訓練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多處多功能空間與高空繩索訓練場域。適合企業Team Building、團隊凝聚訓練。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地球志工遊程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全新！全國首例DNV碳足跡查證遊程。每人次僅10.18kgCO2e。適合企業ESG團隊日。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在地餐桌與餐飲特色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用食物說土地的故事 — 從產地到餐桌的永續飲食革命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鳥類的餐桌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蜜漬金柑象徵果實、花蜜，代表樹冠層生態。鳥類把大樹當成遊樂場，以果實為食物。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蜜蜂的餐桌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3055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運用海廢做成花朵容器，芳香萬壽菊涼糕沾蜂蜜模仿授粉，代表灌木層生態。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山豬的餐桌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3055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黑糖粉象徵土壤，炸地瓜球模仿山豬掘地覓食，代表地面層生態。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566160"/>
            <a:ext cx="11277295" cy="2560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566160"/>
            <a:ext cx="36576" cy="256032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🌿 森川里海主題餐桌 — 生態廚師謝燦祥策劃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23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🥗 前菜：林下多層次綠沙拉（紅心芭樂、採集野菜、薄荷香草醬）</a:t>
            </a:r>
            <a:br/>
            <a:r>
              <a:t>🍲 湯品：古道裡生物多樣性（破布雞肉丸、桂竹筍、馬告澄清湯）</a:t>
            </a:r>
            <a:br/>
            <a:r>
              <a:t>🐟 主菜：海洋永續（大溪漁港一支釣鬼頭刀）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02336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🍚 主食：水稻米食（櫻花蝦與米苔目交織）</a:t>
            </a:r>
            <a:br/>
            <a:r>
              <a:t>🍰 甜點：大地饋贈（蜜漬金棗與金柑豆沙）</a:t>
            </a:r>
            <a:br/>
            <a:r>
              <a:t>🏆 獲獎：2022綠色餐飲指南大獎＋大東北角永續實踐第一名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分享：企業ESG合作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從森林復育到瀕危物種保育 — 企業與農場的永續夥伴關係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日月光·森林復育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3383280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2025年起半導體企業支持農場造林。除伐撫育、種植原生樹種，增加碳匯提升生物多樣性。目標成為國土生態綠網行動節點。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日月光·葦草蘭復育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30552"/>
            <a:ext cx="3383280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2026年4月啟動瀕危物種棲地復育。基金會團隊親自參與栽種。恢復東北角原生基因，重建淺山生態系關鍵蜜源。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👨‍👩‍👧‍👦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梗枋國小·環教扎根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30552"/>
            <a:ext cx="3383280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在地學童走入林場植樹，認識瀕危物種。體悟「森林和大海是連在一起的」，從教育扎根培養下一代環境公民。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46320"/>
            <a:ext cx="2697480" cy="914400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846320"/>
            <a:ext cx="36576" cy="9144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碳抵換</a:t>
            </a:r>
            <a:br/>
            <a:r>
              <a:t>生物多樣性貢獻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4846320"/>
            <a:ext cx="2697480" cy="914400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37560" y="4846320"/>
            <a:ext cx="36576" cy="9144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29000" y="49377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CSR/ESG</a:t>
            </a:r>
            <a:br/>
            <a:r>
              <a:t>社會責任落實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846320"/>
            <a:ext cx="2697480" cy="914400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846320"/>
            <a:ext cx="36576" cy="9144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49377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員工志工</a:t>
            </a:r>
            <a:br/>
            <a:r>
              <a:t>參與提升認同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4846320"/>
            <a:ext cx="2697480" cy="914400"/>
          </a:xfrm>
          <a:prstGeom prst="round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4846320"/>
            <a:ext cx="36576" cy="9144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493776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量化數據</a:t>
            </a:r>
            <a:br/>
            <a:r>
              <a:t>供ESG報告使用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C2E"/>
                </a:solidFill>
                <a:latin typeface="微軟正黑體"/>
              </a:defRPr>
            </a:pPr>
            <a:r>
              <a:t>📋 ESG合作效益：碳抵換 · CSR實踐 · 員工參與 · 量化數據 · 品牌形象提升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分享：大溪漁港海廢治理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Eco Box 循環箱 — 從漁港出發的海洋革命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👨‍✈️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發起人：船長黃士洋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512064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6年多前開始將海廢帶回岸上</a:t>
            </a:r>
            <a:br/>
            <a:r>
              <a:t>• 發現海中廢棄物最大來源為漁獲保冰用的保麗龍</a:t>
            </a:r>
            <a:br/>
            <a:r>
              <a:t>• 決心從源頭解決</a:t>
            </a:r>
            <a:br/>
            <a:br/>
            <a:r>
              <a:t>Eco Box 解決方案：</a:t>
            </a:r>
            <a:br/>
            <a:r>
              <a:t>• 可重複使用的循環箱取代一次性保麗龍</a:t>
            </a:r>
            <a:br/>
            <a:r>
              <a:t>• 海廢經熱壓處理變成再生板材</a:t>
            </a:r>
            <a:br/>
            <a:r>
              <a:t>• 已成功設立海廢再生園區</a:t>
            </a:r>
            <a:br/>
            <a:r>
              <a:t>• 成立「環保艦隊」串聯有志船長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371600"/>
            <a:ext cx="530352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371600"/>
            <a:ext cx="530352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44475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810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頭城農場的角色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130552"/>
            <a:ext cx="512064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農場將大溪漁港納入走讀深度旅遊行程</a:t>
            </a:r>
            <a:br/>
            <a:r>
              <a:t>• 帶客人體驗漁獲拍賣、實際使用Eco Box</a:t>
            </a:r>
            <a:br/>
            <a:r>
              <a:t>• 由船長親自介紹撈捕海鮮與海洋廢棄物</a:t>
            </a:r>
            <a:br/>
            <a:br/>
            <a:r>
              <a:t>成果與意義：</a:t>
            </a:r>
            <a:br/>
            <a:r>
              <a:t>• 公私協力讓永續資源進入漁港最前線</a:t>
            </a:r>
            <a:br/>
            <a:r>
              <a:t>• 建立山、川、里、海之間的流動關係</a:t>
            </a:r>
            <a:br/>
            <a:r>
              <a:t>• 讓永續不再只是口號，而是人人能實踐的日常行動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0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C2E"/>
                </a:solidFill>
                <a:latin typeface="微軟正黑體"/>
              </a:defRPr>
            </a:pPr>
            <a:r>
              <a:t>♻️ 6+年海廢帶回行動  |  📦 Eco Box循環箱  |  🏭 海廢再生園區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農場服務推廣內容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93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生態保育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1343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物種觀察、棲地營造、溪流監測、森林保護。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554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93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友善農業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31343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土壤改良、有機堆肥、作物栽培、林下經濟。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27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993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環境教育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31343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系統化課程、專業導覽解說、學習成果評量。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綠色餐飲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9943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在地食材採購、季節風味菜單、沉浸式森林餐桌。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8404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旅宿服務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59943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多日停留規劃、夜間觀察導覽、慢生活節奏體驗。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840480"/>
            <a:ext cx="35661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社群協作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9432"/>
            <a:ext cx="338328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鄰近農漁合作、學術機構、企業夥伴與國際旅客互動。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分享：循環農業實作與 KPI 框架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廢棄菇包再利用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30552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將菇包轉化為有機質，協助螢火蟲族群棲地復育，並延伸出夜間生態觀察產品。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0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447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105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都市蚯蚓農場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30552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以蚯蚓箱形成自我維持的生物動力循環，消化有機碎屑，供應富含微生物的有機土。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92608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548640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99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364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生態方舟植生牆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85032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採用自動滴灌系統，集中展示在地原生物種保育，兼具教育與景觀功能。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92608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926080"/>
            <a:ext cx="548640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999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3649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溪流與植樹參與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685032"/>
            <a:ext cx="530352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直接將生態造林與溪流科學監測納入企業 ESG 遊程。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663440"/>
            <a:ext cx="11277295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663440"/>
            <a:ext cx="36576" cy="164592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循環農業衡量框架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212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投入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  <a:latin typeface="微軟正黑體"/>
              </a:defRPr>
            </a:pPr>
            <a:r>
              <a:t>菇包·廚餘·落葉·工時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5212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603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過程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  <a:latin typeface="微軟正黑體"/>
              </a:defRPr>
            </a:pPr>
            <a:r>
              <a:t>堆肥化·蚯蚓·滴灌·監測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89120" y="5212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產出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  <a:latin typeface="微軟正黑體"/>
              </a:defRPr>
            </a:pPr>
            <a:r>
              <a:t>有機土·植株·課程人次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212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結果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  <a:latin typeface="微軟正黑體"/>
              </a:defRPr>
            </a:pPr>
            <a:r>
              <a:t>土壤健康·螢火蟲·減量噸數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5212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影響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  <a:latin typeface="微軟正黑體"/>
              </a:defRPr>
            </a:pPr>
            <a:r>
              <a:t>棲地韌性·行為轉變·信任度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75520" y="5212080"/>
            <a:ext cx="16459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75520" y="52578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5C2E"/>
                </a:solidFill>
                <a:latin typeface="微軟正黑體"/>
              </a:defRPr>
            </a:pPr>
            <a:r>
              <a:t>最低要求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55778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222222"/>
                </a:solidFill>
                <a:latin typeface="微軟正黑體"/>
              </a:defRPr>
            </a:pPr>
            <a:r>
              <a:t>環境+參與+營運各一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環境教育與旅宿結合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77295" cy="914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" cy="9144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2E"/>
                </a:solidFill>
                <a:latin typeface="微軟正黑體"/>
              </a:defRPr>
            </a:pPr>
            <a:r>
              <a:t>學習路徑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110029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微軟正黑體"/>
              </a:defRPr>
            </a:pPr>
            <a:r>
              <a:t>看見（辨識物種與材料） → 理解（食物網與人地關係） → 操作（監測、堆肥與手作） → 反思（討論消費行為） → 行動（回家實踐與企業回訪）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E8B57"/>
                </a:solidFill>
                <a:latin typeface="微軟正黑體"/>
              </a:defRPr>
            </a:pPr>
            <a:r>
              <a:t>住宿的策略角色：延長停留時間，方能完整體驗生態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260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C2E"/>
                </a:solidFill>
                <a:latin typeface="微軟正黑體"/>
              </a:defRPr>
            </a:pPr>
            <a:r>
              <a:t>🌅 白天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747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農事、溪流探索、森林漫步、昆蟲旅館製作、手作與團隊凝聚活動。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92608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9260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C2E"/>
                </a:solidFill>
                <a:latin typeface="微軟正黑體"/>
              </a:defRPr>
            </a:pPr>
            <a:r>
              <a:t>🌙 傍晚與夜間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4747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微醺晚餐、酒莊品飲、螢火蟲季、夜間生態觀察、聲景與低光環境體驗。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926080"/>
            <a:ext cx="356616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29260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3017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C2E"/>
                </a:solidFill>
                <a:latin typeface="微軟正黑體"/>
              </a:defRPr>
            </a:pPr>
            <a:r>
              <a:t>🌄 清晨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34747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晨間物候觀察、鳥類聆聽、農場工作日常與慢生活節奏。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合作方案與企業對接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多種模式，滿足多元需求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方案A：ESG永續旅遊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338328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「Unboxing TFL ESG」生態遊程、循環體驗、碳匯見學、餐桌轉譯。對應SDG4/12/13/15。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👨‍👩‍👧‍👦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方案B：綠色員工旅遊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30552"/>
            <a:ext cx="338328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一至二日行程，農場導覽、DIY體驗、生態旅遊。可客製化調整。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方案C：Team Building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30552"/>
            <a:ext cx="3383280" cy="1892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團隊合作挑戰訓練。環境教育融入團隊建立。適合主管共識營。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4297680"/>
            <a:ext cx="4297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54480" y="4297680"/>
            <a:ext cx="4297680" cy="36576"/>
          </a:xfrm>
          <a:prstGeom prst="rect">
            <a:avLst/>
          </a:prstGeom>
          <a:solidFill>
            <a:srgbClr val="3A7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3708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736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方案D：環境教育訓練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056632"/>
            <a:ext cx="4114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食農教育、森林療育、環教正式課程。通過認證環境教育設施場所。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4297680"/>
            <a:ext cx="42976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4297680"/>
            <a:ext cx="4297680" cy="3657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43708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♻️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736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方案E：循環經濟夥伴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5056632"/>
            <a:ext cx="4114800" cy="978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員工志工、在地認養、廢棄物減量。長期合作框架。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1A5C2E"/>
                </a:solidFill>
                <a:latin typeface="微軟正黑體"/>
              </a:defRPr>
            </a:pPr>
            <a:r>
              <a:t>Step 1 初步聯繫  →  Step 2 需求確認  →  Step 3 現地勘查  →  Step 4 客製提案  →  Step 5 簽約確認  →  Step 6 活動執行  →  Step 7 成效報告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未來展望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從台灣東北角出發，邁向國際永續標竿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🎯 短期目標 2026-2027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深化森川里海四大面向整合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擴大企業ESG合作夥伴網絡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優化硬體設施全年齡友善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酒莊拓展國際市場通路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推廣Earth Keeper永續遊程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371600"/>
            <a:ext cx="3566160" cy="54864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🚀 中期目標 2027-2029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建立休閒農業ESG標竿模式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碳抵換與生物多樣性信用機制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森川里海永續生活圈示範基地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國際永續旅遊經驗輸出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輔導其他場域碳盤查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54864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55448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🌟 長期願景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28600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成為國土生態綠網關鍵節點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推動亞洲生態旅遊網絡經驗交流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建構企業、社區、環境三方共好</a:t>
            </a:r>
          </a:p>
          <a:p>
            <a:pPr>
              <a:defRPr sz="1100">
                <a:solidFill>
                  <a:srgbClr val="222222"/>
                </a:solidFill>
                <a:latin typeface="微軟正黑體"/>
              </a:defRPr>
            </a:pPr>
            <a:r>
              <a:t>• 讓台灣休閒農業成為全球永續典範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669280"/>
            <a:ext cx="11277295" cy="7315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669280"/>
            <a:ext cx="36576" cy="73152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715000"/>
            <a:ext cx="1100297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5C2E"/>
                </a:solidFill>
                <a:latin typeface="微軟正黑體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98932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2222"/>
                </a:solidFill>
                <a:latin typeface="微軟正黑體"/>
              </a:defRPr>
            </a:pPr>
            <a:r>
              <a:t>「從農場出發，串連山海，連結企業與社區，讓永續看得見、也吃得到。」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藏酒酒莊介紹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Cang Jiu Winery — 台灣第一家六級化產業生態酒莊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台灣第一家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六級化生態酒莊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軟正黑體"/>
              </a:defRPr>
            </a:pPr>
            <a:r>
              <a:t>Grand 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2026國際金牌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雪山泉水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純淨釀造水源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軟正黑體"/>
              </a:defRPr>
            </a:pPr>
            <a:r>
              <a:t>四季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春梅夏葡秋米冬棗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28600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2860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724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基本資訊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044952"/>
            <a:ext cx="338328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地址：宜蘭縣頭城鎮更新路126-50號</a:t>
            </a:r>
            <a:br/>
            <a:r>
              <a:t>電話：03-9778555</a:t>
            </a:r>
            <a:br/>
            <a:r>
              <a:t>官網：www.cjwine.com</a:t>
            </a:r>
            <a:br/>
            <a:r>
              <a:t>LINE：@amb5687a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228600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2860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724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定位與理念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044952"/>
            <a:ext cx="338328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台灣第一家結合「農業生產+釀酒加工+體驗休閒+健康療癒」的生態酒莊。致力將在地農產品升級再利用，打造六級化產業服務。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2286000"/>
            <a:ext cx="356616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22860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23591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🏗️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7249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綠建築設計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044952"/>
            <a:ext cx="338328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深藏梗枋山上，臨濱海坐臥山谷。以綠建築導入完整水系統。運用漂流木與浮標打造南洋庭園風格。水源來自雪山泉水。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🍷 四季佳釀與代表酒款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春梅夏葡秋米冬棗 — 順應節氣的釀造哲學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春梅 · 青梅酒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春日青梅，清新爽口。選用宜蘭在地青梅，以雪山泉水浸釀，酸甜均衡，尾韻清爽。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☀️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夏葡 · 葡萄酒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夏日葡萄，季節限定。嚴選台灣在地釀酒葡萄，每年夏季限量生產，果香豐盈。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秋米 · 米酒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秋日米酒，醇厚溫潤。以宜蘭在地稻米蒸餾釀造，口感醇厚，入喉溫潤。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❄️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冬棗 · 金棗酒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冬日金棗，果香濃郁。龜山朝日為代表，蜜香突出，為莊園最具代表性酒品。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40480"/>
            <a:ext cx="356616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藏金柑白蘭地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2026 Grand Or大金牌獎。金柑白蘭地，嚴選在地金柑，細膩發酵蒸餾。優雅柑橘果香。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2026新春禮盒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「開運棗到你」三入組：曦光金棗酒、春日序曲、藏金柑。湖水綠質感提籃包裝。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國際得獎紀錄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台灣金柑釀造工藝站上世界舞台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77295" cy="32004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6576" cy="3200400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C2E"/>
                </a:solidFill>
                <a:latin typeface="微軟正黑體"/>
              </a:defRPr>
            </a:pPr>
            <a:r>
              <a:t>🥇 2026年 Vinalies Internationales Grand Or 大金牌獎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得獎酒款：藏金柑（金柑白蘭地 / Kumquat Brandy）</a:t>
            </a:r>
            <a:br/>
            <a:r>
              <a:t>• 主辦單位：法國釀酒師協會（Œnologues de France）</a:t>
            </a:r>
            <a:br/>
            <a:r>
              <a:t>• 獎項等級：Grand Or 大金牌 — 最高等級肯定</a:t>
            </a:r>
            <a:br/>
            <a:r>
              <a:t>• 競賽規模：全球40多國、90多支酒品參賽</a:t>
            </a:r>
            <a:br/>
            <a:r>
              <a:t>• 評審評價：果香濃郁、酸甜平衡、細緻層次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獲獎意義：台灣少數以金柑釀造獲國際大獎代表作</a:t>
            </a:r>
            <a:br/>
            <a:r>
              <a:t>• 官方祝賀：代理縣長林茂盛親赴酒莊貼紅榜</a:t>
            </a:r>
            <a:br/>
            <a:r>
              <a:t>• 市場效應：國際訂單湧入，價格翻倍</a:t>
            </a:r>
            <a:br/>
            <a:r>
              <a:t>• 產業升級：金柑從加工食品躍升國際精品酒款</a:t>
            </a:r>
            <a:br/>
            <a:r>
              <a:t>• 窖藏年份：5至6年窖藏，短期供不應求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84632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530352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919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85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2024年 Vinalies Internationales 銀牌獎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05272"/>
            <a:ext cx="5120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得獎酒款：龜山朝日-金棗酒。該屆台灣農村酒莊共獲2特級金牌、5金牌、3銀牌，展現台灣農村酒莊製酒技術已達國際一流水準。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84632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846320"/>
            <a:ext cx="530352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9194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2852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AEN亞洲生態旅遊網絡創新大獎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605272"/>
            <a:ext cx="512064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以綠色廚房與永續餐桌設計獲得國際肯定。另獲第一屆大東北角永續實踐故事綠色業者第一名（2025年）。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金柑產業背景與升級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從宜蘭農產到國際精品 — 一顆金柑的華麗轉身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194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公頃·宜蘭金柑種植面積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軟正黑體"/>
              </a:defRPr>
            </a:pPr>
            <a:r>
              <a:t>2,000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公噸·年產量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A5C2E"/>
                </a:solidFill>
                <a:latin typeface="微軟正黑體"/>
              </a:defRPr>
            </a:pPr>
            <a:r>
              <a:t>47年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頭城農場老欉金棗樹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69748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3258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01E"/>
                </a:solidFill>
                <a:latin typeface="微軟正黑體"/>
              </a:defRPr>
            </a:pPr>
            <a:r>
              <a:t>Grand 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71907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微軟正黑體"/>
              </a:defRPr>
            </a:pPr>
            <a:r>
              <a:t>2026國際最高榮譽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37744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2377440"/>
            <a:ext cx="530352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450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163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金柑產業現況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136392"/>
            <a:ext cx="512064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宜蘭為台灣金柑主要產區，種植面積約194公頃</a:t>
            </a:r>
            <a:br/>
            <a:r>
              <a:t>• 年產量約2,000公噸，為宜蘭極具代表性農產</a:t>
            </a:r>
            <a:br/>
            <a:r>
              <a:t>• 過去多以加工食品（蜜餞、果醬）形式呈現</a:t>
            </a:r>
            <a:br/>
            <a:r>
              <a:t>• 縣府每年辦理金柑品質評鑑競賽，提升栽培技術</a:t>
            </a:r>
            <a:br/>
            <a:r>
              <a:t>• 頭城農場500+棵金桔金棗樹為縣內最大單一產區之一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377440"/>
            <a:ext cx="530352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2377440"/>
            <a:ext cx="530352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245059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8163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Grand Or 帶動產業升級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136392"/>
            <a:ext cx="512064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• 藏酒酒莊透過釀酒工藝將金柑轉化為精品酒款</a:t>
            </a:r>
            <a:br/>
            <a:r>
              <a:t>• 獲獎後國際訂單湧入，金柑從加工食品躍升國際精品</a:t>
            </a:r>
            <a:br/>
            <a:r>
              <a:t>• 5至6年窖藏藏金柑白蘭地供不應求</a:t>
            </a:r>
            <a:br/>
            <a:r>
              <a:t>• 示範如何將在地特色轉化為高端產品</a:t>
            </a:r>
            <a:br/>
            <a:r>
              <a:t>• 宜蘭金柑品牌辨識度大幅提升</a:t>
            </a:r>
            <a:br/>
            <a:r>
              <a:t>• 吸引更多旅客體驗酒莊文化與深度旅遊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0E0E0"/>
                </a:solidFill>
                <a:latin typeface="微軟正黑體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C2E"/>
                </a:solidFill>
                <a:latin typeface="微軟正黑體"/>
              </a:defRPr>
            </a:pPr>
            <a:r>
              <a:t>🍽️ 藏酒酒莊 · 微醺饗宴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685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微軟正黑體"/>
              </a:defRPr>
            </a:pPr>
            <a:r>
              <a:t>山、水、酒、食融合的慢旅行體驗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77295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藏酒山海拼盤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使用梗枋、大溪漁港現流海鮮：紅甘、煙仔虎生魚片、九孔、中卷，搭配酒莊自釀金棗酒，山海風味一次滿足。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金棗酒粕麵包雞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酒莊超人氣招牌料理。雞肉包進麵包中烘烤，加入酒粕與金棗元素，外酥內嫩。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37160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4475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8105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酒釀海大蝦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3055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將自釀果酒與特調醬汁結合在地鮮蝦，帶有淡淡酒香與自然甜味。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紅麴櫻花蝦炒飯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結合紅麴發酵元素與宜蘭特產櫻花蝦，粒粒分明，風味獨具。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微醺品酒體驗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酒窖深度巡禮、專業侍酒導覽、金棗酒品飲搭配無菜單料理。夏日限定「藏夏避暑提案」。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3840480"/>
            <a:ext cx="35661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3840480"/>
            <a:ext cx="3566160" cy="36576"/>
          </a:xfrm>
          <a:prstGeom prst="rect">
            <a:avLst/>
          </a:prstGeom>
          <a:solidFill>
            <a:srgbClr val="1A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91363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微軟正黑體"/>
              </a:defRPr>
            </a:pPr>
            <a:r>
              <a:t>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2793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C2E"/>
                </a:solidFill>
                <a:latin typeface="微軟正黑體"/>
              </a:defRPr>
            </a:pPr>
            <a:r>
              <a:t>DIY梅燦星空酒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599432"/>
            <a:ext cx="3383280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22222"/>
                </a:solidFill>
                <a:latin typeface="微軟正黑體"/>
              </a:defRPr>
            </a:pPr>
            <a:r>
              <a:t>親手調製專屬梅酒，體驗釀酒工藝。把宜蘭山海的美好裝進酒瓶帶回家。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01E"/>
                </a:solidFill>
                <a:latin typeface="微軟正黑體"/>
              </a:defRPr>
            </a:pPr>
            <a:r>
              <a:t>謝謝您的聆聽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微軟正黑體"/>
              </a:defRPr>
            </a:pPr>
            <a:r>
              <a:t>歡迎蒞臨頭城農場與藏酒酒莊，體驗永續旅遊與在地釀造的美好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108960"/>
            <a:ext cx="3108960" cy="2286000"/>
          </a:xfrm>
          <a:prstGeom prst="roundRect">
            <a:avLst/>
          </a:prstGeom>
          <a:solidFill>
            <a:srgbClr val="15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01E"/>
                </a:solidFill>
                <a:latin typeface="微軟正黑體"/>
              </a:defRPr>
            </a:pPr>
            <a:r>
              <a:t>🌿 頭城休閒農場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6576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宜蘭縣頭城鎮更新路125-1號</a:t>
            </a:r>
            <a:br/>
            <a:r>
              <a:t>03-9772220</a:t>
            </a:r>
            <a:br/>
            <a:r>
              <a:t>tcfarminfo@gmail.com</a:t>
            </a:r>
            <a:br/>
            <a:r>
              <a:t>www.tcfarm.com.tw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3108960"/>
            <a:ext cx="3108960" cy="2286000"/>
          </a:xfrm>
          <a:prstGeom prst="roundRect">
            <a:avLst/>
          </a:prstGeom>
          <a:solidFill>
            <a:srgbClr val="15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01E"/>
                </a:solidFill>
                <a:latin typeface="微軟正黑體"/>
              </a:defRPr>
            </a:pPr>
            <a:r>
              <a:t>🍷 藏酒酒莊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36576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宜蘭縣頭城鎮更新路126-50號</a:t>
            </a:r>
            <a:br/>
            <a:r>
              <a:t>03-9778555</a:t>
            </a:r>
            <a:br/>
            <a:r>
              <a:t>service@cjwine.com</a:t>
            </a:r>
            <a:br/>
            <a:r>
              <a:t>www.cjwine.com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108960"/>
            <a:ext cx="3108960" cy="2286000"/>
          </a:xfrm>
          <a:prstGeom prst="roundRect">
            <a:avLst/>
          </a:prstGeom>
          <a:solidFill>
            <a:srgbClr val="154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32004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01E"/>
                </a:solidFill>
                <a:latin typeface="微軟正黑體"/>
              </a:defRPr>
            </a:pPr>
            <a:r>
              <a:t>🚗 交通資訊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3657600"/>
            <a:ext cx="2834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CCCCCC"/>
                </a:solidFill>
                <a:latin typeface="微軟正黑體"/>
              </a:defRPr>
            </a:pPr>
            <a:r>
              <a:t>國道5號頭城交流道→台2線</a:t>
            </a:r>
            <a:br/>
            <a:r>
              <a:t>濱海公路→梗枋橋頭轉更新路</a:t>
            </a:r>
            <a:br/>
            <a:r>
              <a:t>台鐵頭城站或龜山站轉計程車約10分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669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01E"/>
                </a:solidFill>
                <a:latin typeface="微軟正黑體"/>
              </a:defRPr>
            </a:pPr>
            <a:r>
              <a:t>代表人  卓志宏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88888"/>
                </a:solidFill>
                <a:latin typeface="微軟正黑體"/>
              </a:defRPr>
            </a:pPr>
            <a:r>
              <a:t>© 2026 頭城農場 Toucheng Leisure Farm &amp; 藏酒酒莊 Cang Jiu Winery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微軟正黑體"/>
              </a:defRPr>
            </a:pPr>
            <a:r>
              <a:t>🚫 禁止酒駕 · 未滿18歲禁止飲酒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